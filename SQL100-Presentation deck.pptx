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2B6CD4-74ED-46FA-A4F2-CE913FBE1664}" v="7" dt="2026-03-03T19:36:19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to, Devrath" userId="a7400729-348e-4bcd-a883-64d20c94dad7" providerId="ADAL" clId="{8DADF8CC-3600-416D-A641-D1A778A57480}"/>
    <pc:docChg chg="custSel addSld modSld">
      <pc:chgData name="Mahato, Devrath" userId="a7400729-348e-4bcd-a883-64d20c94dad7" providerId="ADAL" clId="{8DADF8CC-3600-416D-A641-D1A778A57480}" dt="2026-03-03T19:37:08.759" v="50" actId="20577"/>
      <pc:docMkLst>
        <pc:docMk/>
      </pc:docMkLst>
      <pc:sldChg chg="addSp delSp modSp new mod">
        <pc:chgData name="Mahato, Devrath" userId="a7400729-348e-4bcd-a883-64d20c94dad7" providerId="ADAL" clId="{8DADF8CC-3600-416D-A641-D1A778A57480}" dt="2026-03-03T19:07:19.370" v="18" actId="6549"/>
        <pc:sldMkLst>
          <pc:docMk/>
          <pc:sldMk cId="783524677" sldId="256"/>
        </pc:sldMkLst>
        <pc:spChg chg="mod">
          <ac:chgData name="Mahato, Devrath" userId="a7400729-348e-4bcd-a883-64d20c94dad7" providerId="ADAL" clId="{8DADF8CC-3600-416D-A641-D1A778A57480}" dt="2026-03-03T19:06:45.070" v="15" actId="14100"/>
          <ac:spMkLst>
            <pc:docMk/>
            <pc:sldMk cId="783524677" sldId="256"/>
            <ac:spMk id="2" creationId="{80AA0BA6-4A3D-C12E-6178-2A372879E60B}"/>
          </ac:spMkLst>
        </pc:spChg>
        <pc:spChg chg="del">
          <ac:chgData name="Mahato, Devrath" userId="a7400729-348e-4bcd-a883-64d20c94dad7" providerId="ADAL" clId="{8DADF8CC-3600-416D-A641-D1A778A57480}" dt="2026-03-03T19:06:52.003" v="16" actId="21"/>
          <ac:spMkLst>
            <pc:docMk/>
            <pc:sldMk cId="783524677" sldId="256"/>
            <ac:spMk id="3" creationId="{25EFAAB3-D240-DB28-2528-8C228CCD2245}"/>
          </ac:spMkLst>
        </pc:spChg>
        <pc:spChg chg="add mod">
          <ac:chgData name="Mahato, Devrath" userId="a7400729-348e-4bcd-a883-64d20c94dad7" providerId="ADAL" clId="{8DADF8CC-3600-416D-A641-D1A778A57480}" dt="2026-03-03T19:07:19.370" v="18" actId="6549"/>
          <ac:spMkLst>
            <pc:docMk/>
            <pc:sldMk cId="783524677" sldId="256"/>
            <ac:spMk id="5" creationId="{81101A06-0246-BF7A-C89A-D6AF3CDB4797}"/>
          </ac:spMkLst>
        </pc:spChg>
      </pc:sldChg>
      <pc:sldChg chg="modSp add mod">
        <pc:chgData name="Mahato, Devrath" userId="a7400729-348e-4bcd-a883-64d20c94dad7" providerId="ADAL" clId="{8DADF8CC-3600-416D-A641-D1A778A57480}" dt="2026-03-03T19:09:07.158" v="28" actId="20577"/>
        <pc:sldMkLst>
          <pc:docMk/>
          <pc:sldMk cId="4071494521" sldId="257"/>
        </pc:sldMkLst>
        <pc:spChg chg="mod">
          <ac:chgData name="Mahato, Devrath" userId="a7400729-348e-4bcd-a883-64d20c94dad7" providerId="ADAL" clId="{8DADF8CC-3600-416D-A641-D1A778A57480}" dt="2026-03-03T19:08:22.302" v="24" actId="14100"/>
          <ac:spMkLst>
            <pc:docMk/>
            <pc:sldMk cId="4071494521" sldId="257"/>
            <ac:spMk id="2" creationId="{648EDF99-DAB9-E29F-1C99-59307CD8AE8F}"/>
          </ac:spMkLst>
        </pc:spChg>
        <pc:spChg chg="mod">
          <ac:chgData name="Mahato, Devrath" userId="a7400729-348e-4bcd-a883-64d20c94dad7" providerId="ADAL" clId="{8DADF8CC-3600-416D-A641-D1A778A57480}" dt="2026-03-03T19:09:07.158" v="28" actId="20577"/>
          <ac:spMkLst>
            <pc:docMk/>
            <pc:sldMk cId="4071494521" sldId="257"/>
            <ac:spMk id="5" creationId="{F03912C8-FDD3-4E77-DECB-8E9EBA184114}"/>
          </ac:spMkLst>
        </pc:spChg>
      </pc:sldChg>
      <pc:sldChg chg="modSp add mod">
        <pc:chgData name="Mahato, Devrath" userId="a7400729-348e-4bcd-a883-64d20c94dad7" providerId="ADAL" clId="{8DADF8CC-3600-416D-A641-D1A778A57480}" dt="2026-03-03T19:35:27.165" v="40" actId="14100"/>
        <pc:sldMkLst>
          <pc:docMk/>
          <pc:sldMk cId="952785098" sldId="258"/>
        </pc:sldMkLst>
        <pc:spChg chg="mod">
          <ac:chgData name="Mahato, Devrath" userId="a7400729-348e-4bcd-a883-64d20c94dad7" providerId="ADAL" clId="{8DADF8CC-3600-416D-A641-D1A778A57480}" dt="2026-03-03T19:35:27.165" v="40" actId="14100"/>
          <ac:spMkLst>
            <pc:docMk/>
            <pc:sldMk cId="952785098" sldId="258"/>
            <ac:spMk id="2" creationId="{598CD464-5729-B100-15CC-33464FC0445B}"/>
          </ac:spMkLst>
        </pc:spChg>
        <pc:spChg chg="mod">
          <ac:chgData name="Mahato, Devrath" userId="a7400729-348e-4bcd-a883-64d20c94dad7" providerId="ADAL" clId="{8DADF8CC-3600-416D-A641-D1A778A57480}" dt="2026-03-03T19:35:07.919" v="37" actId="20577"/>
          <ac:spMkLst>
            <pc:docMk/>
            <pc:sldMk cId="952785098" sldId="258"/>
            <ac:spMk id="5" creationId="{4C39CF3F-95A6-3ED1-3E15-7EC0C1322254}"/>
          </ac:spMkLst>
        </pc:spChg>
      </pc:sldChg>
      <pc:sldChg chg="modSp add mod">
        <pc:chgData name="Mahato, Devrath" userId="a7400729-348e-4bcd-a883-64d20c94dad7" providerId="ADAL" clId="{8DADF8CC-3600-416D-A641-D1A778A57480}" dt="2026-03-03T19:37:08.759" v="50" actId="20577"/>
        <pc:sldMkLst>
          <pc:docMk/>
          <pc:sldMk cId="2872343210" sldId="259"/>
        </pc:sldMkLst>
        <pc:spChg chg="mod">
          <ac:chgData name="Mahato, Devrath" userId="a7400729-348e-4bcd-a883-64d20c94dad7" providerId="ADAL" clId="{8DADF8CC-3600-416D-A641-D1A778A57480}" dt="2026-03-03T19:36:06.925" v="47" actId="14100"/>
          <ac:spMkLst>
            <pc:docMk/>
            <pc:sldMk cId="2872343210" sldId="259"/>
            <ac:spMk id="2" creationId="{4B8DF2E2-EB13-3B0C-7B8B-FB93C275CEF3}"/>
          </ac:spMkLst>
        </pc:spChg>
        <pc:spChg chg="mod">
          <ac:chgData name="Mahato, Devrath" userId="a7400729-348e-4bcd-a883-64d20c94dad7" providerId="ADAL" clId="{8DADF8CC-3600-416D-A641-D1A778A57480}" dt="2026-03-03T19:37:08.759" v="50" actId="20577"/>
          <ac:spMkLst>
            <pc:docMk/>
            <pc:sldMk cId="2872343210" sldId="259"/>
            <ac:spMk id="5" creationId="{D2088FB6-FE60-681C-CFC9-E509A242461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F1B1-89E7-403F-D690-E605F3ECD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40D2A-35C2-88B2-646A-FAD064FC8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E09B0-E9B5-DE55-984B-377648CD9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E313-03D5-40C4-882D-3D1E1C54A8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1019E-29D4-31EF-9ADC-68F4D256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728FC-CA1A-9F9A-6283-47C536C68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3AF88-87FD-4646-8587-A7950F7C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41A22-0115-7285-9596-CD7B0274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745BA-E685-EA55-177D-2E669A69E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5E8B-700D-CFD7-5765-A51D7EF1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E313-03D5-40C4-882D-3D1E1C54A8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8C967-E162-5FD6-1753-A7E07A9D1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D7ED4-5732-4678-C4DB-5FDA186D0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3AF88-87FD-4646-8587-A7950F7C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6700-A8AD-67CE-E37E-AA54B0CDF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848AC-50DA-F4EF-454A-F5E0361E2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DD569-6EE7-0972-A3E4-034E84F3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E313-03D5-40C4-882D-3D1E1C54A8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2177A-2C2D-1FAF-B2AD-052D30FBD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1500-CA35-CA77-9EAC-F1505C40F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3AF88-87FD-4646-8587-A7950F7C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05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8FD8E-3CE8-A01C-6890-4A1F7338D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FE7B7-1D97-6425-7503-C477E892BE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B2D1C-848D-5D33-CFAB-D284AD83D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D1CEA-296E-59E4-6AD2-BE46FDDE2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E313-03D5-40C4-882D-3D1E1C54A8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0B094-431D-96F8-E92C-5687B724B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010AD-6E23-E8D0-1F71-28C51E8C8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3AF88-87FD-4646-8587-A7950F7C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09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94F90-0733-4367-5DB1-D326FADD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A822E-CDFB-FC81-2FD6-CE6F9F82E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E1BDBE-50B2-2426-27AC-955CDACDD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A29976-9215-4F40-6E4C-540904BD8E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20866-1F12-E45C-F93A-CBC7B196B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862533-B306-A7FB-2D94-4BA3C900C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E313-03D5-40C4-882D-3D1E1C54A8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8DCEB3-E678-8805-736A-7C3AE6D17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3098EC-F5CD-7FD6-351D-03217625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3AF88-87FD-4646-8587-A7950F7C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8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60F05-A83E-C000-3B0F-437C21180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CC177C-FA0C-0644-DE22-731CB1650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E313-03D5-40C4-882D-3D1E1C54A8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D1552-5E86-485A-CFC0-8C7018332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09375-13F9-6E7B-3DB7-9BBBF6C2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3AF88-87FD-4646-8587-A7950F7C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496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8202F-4FC7-0976-FB29-0C5F544C7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E313-03D5-40C4-882D-3D1E1C54A8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1F16A-D283-D627-F42A-8332A3CB4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9C99F-DD1F-794C-86FA-06AF9E36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3AF88-87FD-4646-8587-A7950F7C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89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24A1-3152-0FD3-DEFB-5B832C655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E3348-4AA5-5B2B-DC60-75B2AC092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42624-1818-764C-40B7-9ED832269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6DD26-B9F4-F36F-4CD7-DCE4BFDE4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E313-03D5-40C4-882D-3D1E1C54A8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6D483-189C-927A-21BF-A80F3C914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2F39B-32FA-00A6-B563-89F57865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3AF88-87FD-4646-8587-A7950F7C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498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569E3-DA58-4CA5-F0D9-6FFDDAEF1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FDD809-523B-3DF8-BC90-E7FF3B23D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F0CE0-A2B6-D647-AA03-3EF14E0F0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B304A-A150-0AAF-D1E0-E4CA3EB4C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E313-03D5-40C4-882D-3D1E1C54A8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D227B-CD82-6807-0F55-754E60BA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94ADD-F8BB-C6EE-E56B-FD87F5836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3AF88-87FD-4646-8587-A7950F7C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66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D8BCB-504F-9245-9D5C-32EFCFA19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C798E-2613-A726-B825-34C21AA07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3A014-64E2-CA6A-AB9E-F9EE689A0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E313-03D5-40C4-882D-3D1E1C54A8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5BA4D-44F8-801C-3505-41CF2649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A3EC6-874C-FEEF-77BA-4F1DC018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3AF88-87FD-4646-8587-A7950F7C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4A97AA-9BC7-5872-0625-44EF3B8C59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7098AC-7F03-E891-2791-B66E183D9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A7525-2FFC-501E-D7FE-A69FAA189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E313-03D5-40C4-882D-3D1E1C54A8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E67C7-6A69-89D4-22F3-4B037D6F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24725-3195-2E66-E41D-A82EFDA95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3AF88-87FD-4646-8587-A7950F7C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50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A5F591-73D3-8865-5B7C-1F866E94A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2EF43-CA0B-8C17-90FD-DC78E861E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C21D6-B1DF-E0C9-E6C4-DD619E81B1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0AE313-03D5-40C4-882D-3D1E1C54A8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47386-2117-6541-DC9A-BC1FA9E920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E700A-3C75-FD81-6E0C-81CC895EA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3AF88-87FD-4646-8587-A7950F7C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5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A0BA6-4A3D-C12E-6178-2A372879E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078" y="481782"/>
            <a:ext cx="10638504" cy="1002890"/>
          </a:xfrm>
        </p:spPr>
        <p:txBody>
          <a:bodyPr>
            <a:normAutofit/>
          </a:bodyPr>
          <a:lstStyle/>
          <a:p>
            <a:r>
              <a:rPr lang="en-US" sz="32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Problem – Performance is Becoming a Business Risk</a:t>
            </a:r>
            <a:br>
              <a:rPr lang="en-US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101A06-0246-BF7A-C89A-D6AF3CDB4797}"/>
              </a:ext>
            </a:extLst>
          </p:cNvPr>
          <p:cNvSpPr txBox="1"/>
          <p:nvPr/>
        </p:nvSpPr>
        <p:spPr>
          <a:xfrm>
            <a:off x="1081547" y="1248696"/>
            <a:ext cx="8475407" cy="4925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Today: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Average database read latency: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Growing user base and reporting demand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Peak-time slowdowns visible to users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this means to the business: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Slower dashboards and APIs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Delayed analytics insights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Reduced productivity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Potential SLA breaches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usage grows, latency will not stay at 20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it will increase.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is not just a technical metric.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It’s a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customer experience and revenue protection issue.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24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F55-C0DD-7594-C4E8-72F783B5F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EDF99-DAB9-E29F-1C99-59307CD8A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078" y="481782"/>
            <a:ext cx="10638504" cy="845573"/>
          </a:xfrm>
        </p:spPr>
        <p:txBody>
          <a:bodyPr>
            <a:normAutofit/>
          </a:bodyPr>
          <a:lstStyle/>
          <a:p>
            <a:r>
              <a:rPr lang="en-US" sz="3200" b="1" dirty="0"/>
              <a:t>The Opportunity – Move from Reactive to Proactive Scaling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912C8-FDD3-4E77-DECB-8E9EBA184114}"/>
              </a:ext>
            </a:extLst>
          </p:cNvPr>
          <p:cNvSpPr txBox="1"/>
          <p:nvPr/>
        </p:nvSpPr>
        <p:spPr>
          <a:xfrm>
            <a:off x="1081547" y="1248696"/>
            <a:ext cx="847540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currently operate with </a:t>
            </a:r>
            <a:r>
              <a:rPr lang="en-US" b="1" dirty="0"/>
              <a:t>3 database replicas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was sufficient when:</a:t>
            </a:r>
          </a:p>
          <a:p>
            <a:pPr lvl="0"/>
            <a:r>
              <a:rPr lang="en-US" dirty="0"/>
              <a:t>Traffic was lower</a:t>
            </a:r>
          </a:p>
          <a:p>
            <a:pPr lvl="0"/>
            <a:r>
              <a:rPr lang="en-US" dirty="0"/>
              <a:t>Regional demand was limited</a:t>
            </a:r>
          </a:p>
          <a:p>
            <a:pPr lvl="0"/>
            <a:r>
              <a:rPr lang="en-US" dirty="0"/>
              <a:t>Reporting loads were lighter</a:t>
            </a:r>
          </a:p>
          <a:p>
            <a:pPr lvl="0"/>
            <a:endParaRPr lang="en-US" dirty="0"/>
          </a:p>
          <a:p>
            <a:r>
              <a:rPr lang="en-US" dirty="0"/>
              <a:t>To support future growth, we propose scaling to </a:t>
            </a:r>
            <a:r>
              <a:rPr lang="en-US" b="1" dirty="0"/>
              <a:t>10 replicas</a:t>
            </a:r>
            <a:r>
              <a:rPr lang="en-US" dirty="0"/>
              <a:t>, enabling:</a:t>
            </a:r>
          </a:p>
          <a:p>
            <a:r>
              <a:rPr lang="en-US" dirty="0"/>
              <a:t>✅ Latency reduction from ~20 </a:t>
            </a:r>
            <a:r>
              <a:rPr lang="en-US" dirty="0" err="1"/>
              <a:t>ms</a:t>
            </a:r>
            <a:r>
              <a:rPr lang="en-US" dirty="0"/>
              <a:t> → ~1 </a:t>
            </a:r>
            <a:r>
              <a:rPr lang="en-US" dirty="0" err="1"/>
              <a:t>ms</a:t>
            </a:r>
            <a:br>
              <a:rPr lang="en-US" dirty="0"/>
            </a:br>
            <a:r>
              <a:rPr lang="en-US" dirty="0"/>
              <a:t>✅ Better load distribution</a:t>
            </a:r>
            <a:br>
              <a:rPr lang="en-US" dirty="0"/>
            </a:br>
            <a:r>
              <a:rPr lang="en-US" dirty="0"/>
              <a:t>✅ High availability across failures</a:t>
            </a:r>
            <a:br>
              <a:rPr lang="en-US" dirty="0"/>
            </a:br>
            <a:r>
              <a:rPr lang="en-US" dirty="0"/>
              <a:t>✅ Improved resilience during peak events</a:t>
            </a:r>
            <a:br>
              <a:rPr lang="en-US" dirty="0"/>
            </a:br>
            <a:r>
              <a:rPr lang="en-US" dirty="0"/>
              <a:t>✅ Scalability for next 3–5 years</a:t>
            </a:r>
          </a:p>
          <a:p>
            <a:endParaRPr lang="en-US" dirty="0"/>
          </a:p>
          <a:p>
            <a:r>
              <a:rPr lang="en-US" dirty="0"/>
              <a:t>This is a </a:t>
            </a:r>
            <a:r>
              <a:rPr lang="en-US" b="1" dirty="0"/>
              <a:t>capacity investment before performance becomes a crisis.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494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CBE15-5C30-B8C4-388A-C091063EE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CD464-5729-B100-15CC-33464FC04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783"/>
            <a:ext cx="10402529" cy="766914"/>
          </a:xfrm>
        </p:spPr>
        <p:txBody>
          <a:bodyPr>
            <a:normAutofit/>
          </a:bodyPr>
          <a:lstStyle/>
          <a:p>
            <a:r>
              <a:rPr lang="en-US" sz="3200" b="1" dirty="0"/>
              <a:t>Financial Perspective – Cost vs Business Impact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9CF3F-95A6-3ED1-3E15-7EC0C1322254}"/>
              </a:ext>
            </a:extLst>
          </p:cNvPr>
          <p:cNvSpPr txBox="1"/>
          <p:nvPr/>
        </p:nvSpPr>
        <p:spPr>
          <a:xfrm>
            <a:off x="1081547" y="1248696"/>
            <a:ext cx="847540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Cost Considerations</a:t>
            </a:r>
            <a:endParaRPr lang="en-US" dirty="0"/>
          </a:p>
          <a:p>
            <a:pPr lvl="0"/>
            <a:r>
              <a:rPr lang="en-US" dirty="0"/>
              <a:t>7 additional replicas (infrastructure + storage)</a:t>
            </a:r>
          </a:p>
          <a:p>
            <a:pPr lvl="0"/>
            <a:r>
              <a:rPr lang="en-US" dirty="0"/>
              <a:t>Increased monitoring and maintenance</a:t>
            </a:r>
          </a:p>
          <a:p>
            <a:pPr lvl="0"/>
            <a:r>
              <a:rPr lang="en-US" dirty="0"/>
              <a:t>Network &amp; backup costs</a:t>
            </a:r>
          </a:p>
          <a:p>
            <a:pPr lvl="0"/>
            <a:endParaRPr lang="en-US" dirty="0"/>
          </a:p>
          <a:p>
            <a:r>
              <a:rPr lang="en-US" b="1" dirty="0"/>
              <a:t>📈 Business Value</a:t>
            </a:r>
            <a:endParaRPr lang="en-US" dirty="0"/>
          </a:p>
          <a:p>
            <a:pPr lvl="0"/>
            <a:r>
              <a:rPr lang="en-US" dirty="0"/>
              <a:t>Improved user satisfaction</a:t>
            </a:r>
          </a:p>
          <a:p>
            <a:pPr lvl="0"/>
            <a:r>
              <a:rPr lang="en-US" dirty="0"/>
              <a:t>Reduced SLA penalty risk</a:t>
            </a:r>
          </a:p>
          <a:p>
            <a:pPr lvl="0"/>
            <a:r>
              <a:rPr lang="en-US" dirty="0"/>
              <a:t>Faster analytics → faster decisions</a:t>
            </a:r>
          </a:p>
          <a:p>
            <a:pPr lvl="0"/>
            <a:r>
              <a:rPr lang="en-US" dirty="0"/>
              <a:t>Reduced outage exposure</a:t>
            </a:r>
          </a:p>
          <a:p>
            <a:endParaRPr lang="en-US" b="1" dirty="0"/>
          </a:p>
          <a:p>
            <a:r>
              <a:rPr lang="en-US" b="1" dirty="0"/>
              <a:t>Key framing:</a:t>
            </a:r>
            <a:endParaRPr lang="en-US" dirty="0"/>
          </a:p>
          <a:p>
            <a:r>
              <a:rPr lang="en-US" dirty="0"/>
              <a:t>The cost of scaling is predictable.</a:t>
            </a:r>
            <a:br>
              <a:rPr lang="en-US" dirty="0"/>
            </a:br>
            <a:r>
              <a:rPr lang="en-US" dirty="0"/>
              <a:t>The cost of downtime or degraded performance is unpredictable and potentially far greater.</a:t>
            </a:r>
          </a:p>
          <a:p>
            <a:r>
              <a:rPr lang="en-US" dirty="0"/>
              <a:t>One performance incident during peak period can outweigh annual replica cost.</a:t>
            </a:r>
          </a:p>
        </p:txBody>
      </p:sp>
    </p:spTree>
    <p:extLst>
      <p:ext uri="{BB962C8B-B14F-4D97-AF65-F5344CB8AC3E}">
        <p14:creationId xmlns:p14="http://schemas.microsoft.com/office/powerpoint/2010/main" val="952785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2890E-7D00-303A-19CB-9DACAA2DA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DF2E2-EB13-3B0C-7B8B-FB93C275C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768" y="481783"/>
            <a:ext cx="10333703" cy="766914"/>
          </a:xfrm>
        </p:spPr>
        <p:txBody>
          <a:bodyPr>
            <a:normAutofit/>
          </a:bodyPr>
          <a:lstStyle/>
          <a:p>
            <a:r>
              <a:rPr lang="en-US" sz="3200" b="1" dirty="0"/>
              <a:t>Risks &amp; Governance – Controlled, Measured Expansion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088FB6-FE60-681C-CFC9-E509A2424614}"/>
              </a:ext>
            </a:extLst>
          </p:cNvPr>
          <p:cNvSpPr txBox="1"/>
          <p:nvPr/>
        </p:nvSpPr>
        <p:spPr>
          <a:xfrm>
            <a:off x="1081547" y="1248696"/>
            <a:ext cx="847540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⚠ Risks Identified</a:t>
            </a:r>
            <a:endParaRPr lang="en-US" dirty="0"/>
          </a:p>
          <a:p>
            <a:pPr lvl="0"/>
            <a:r>
              <a:rPr lang="en-US" dirty="0"/>
              <a:t>Replication lag</a:t>
            </a:r>
          </a:p>
          <a:p>
            <a:pPr lvl="0"/>
            <a:r>
              <a:rPr lang="en-US" dirty="0"/>
              <a:t>Operational complexity</a:t>
            </a:r>
          </a:p>
          <a:p>
            <a:pPr lvl="0"/>
            <a:r>
              <a:rPr lang="en-US" dirty="0"/>
              <a:t>Increased infrastructure spend</a:t>
            </a:r>
          </a:p>
          <a:p>
            <a:pPr lvl="0"/>
            <a:r>
              <a:rPr lang="en-US" dirty="0"/>
              <a:t>Data consistency management</a:t>
            </a:r>
          </a:p>
          <a:p>
            <a:pPr lvl="0"/>
            <a:endParaRPr lang="en-US" dirty="0"/>
          </a:p>
          <a:p>
            <a:r>
              <a:rPr lang="en-US" b="1" dirty="0"/>
              <a:t>🛡 Mitigation Plan</a:t>
            </a:r>
            <a:endParaRPr lang="en-US" dirty="0"/>
          </a:p>
          <a:p>
            <a:pPr lvl="0"/>
            <a:r>
              <a:rPr lang="en-US" dirty="0"/>
              <a:t>Phased rollout (3 → 6 → 10)</a:t>
            </a:r>
          </a:p>
          <a:p>
            <a:pPr lvl="0"/>
            <a:r>
              <a:rPr lang="en-US" dirty="0"/>
              <a:t>Continuous latency benchmarking</a:t>
            </a:r>
          </a:p>
          <a:p>
            <a:pPr lvl="0"/>
            <a:r>
              <a:rPr lang="en-US" dirty="0"/>
              <a:t>Automated health monitoring</a:t>
            </a:r>
          </a:p>
        </p:txBody>
      </p:sp>
    </p:spTree>
    <p:extLst>
      <p:ext uri="{BB962C8B-B14F-4D97-AF65-F5344CB8AC3E}">
        <p14:creationId xmlns:p14="http://schemas.microsoft.com/office/powerpoint/2010/main" val="2872343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a407a2d-7675-4d17-8692-b3ac285306e4}" enabled="0" method="" siteId="{1a407a2d-7675-4d17-8692-b3ac285306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297</Words>
  <Application>Microsoft Office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Symbol</vt:lpstr>
      <vt:lpstr>Office Theme</vt:lpstr>
      <vt:lpstr>The Problem – Performance is Becoming a Business Risk </vt:lpstr>
      <vt:lpstr>The Opportunity – Move from Reactive to Proactive Scaling</vt:lpstr>
      <vt:lpstr>Financial Perspective – Cost vs Business Impact</vt:lpstr>
      <vt:lpstr>Risks &amp; Governance – Controlled, Measured Expansion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Mahato, Devrath</dc:creator>
  <cp:lastModifiedBy>Mahato, Devrath</cp:lastModifiedBy>
  <cp:revision>1</cp:revision>
  <dcterms:created xsi:type="dcterms:W3CDTF">2026-03-03T19:05:06Z</dcterms:created>
  <dcterms:modified xsi:type="dcterms:W3CDTF">2026-03-03T19:37:17Z</dcterms:modified>
</cp:coreProperties>
</file>